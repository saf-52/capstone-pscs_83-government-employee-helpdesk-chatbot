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5" r:id="rId3"/>
    <p:sldId id="276" r:id="rId4"/>
    <p:sldId id="257" r:id="rId5"/>
    <p:sldId id="278" r:id="rId6"/>
    <p:sldId id="279" r:id="rId7"/>
    <p:sldId id="280" r:id="rId8"/>
    <p:sldId id="281" r:id="rId9"/>
    <p:sldId id="282" r:id="rId10"/>
    <p:sldId id="270" r:id="rId11"/>
    <p:sldId id="284" r:id="rId12"/>
    <p:sldId id="28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F736D-EB47-46CC-96A0-32DEF0C2E272}" v="1" dt="2025-09-09T17:38:51.70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7" autoAdjust="0"/>
    <p:restoredTop sz="94660"/>
  </p:normalViewPr>
  <p:slideViewPr>
    <p:cSldViewPr snapToGrid="0">
      <p:cViewPr varScale="1">
        <p:scale>
          <a:sx n="46" d="100"/>
          <a:sy n="46" d="100"/>
        </p:scale>
        <p:origin x="4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HA BAIDYA" userId="d16901fbf2d38727" providerId="LiveId" clId="{A9180902-D3D4-405C-8A38-CC9E1DC1E536}"/>
    <pc:docChg chg="modSld">
      <pc:chgData name="PRITHA BAIDYA" userId="d16901fbf2d38727" providerId="LiveId" clId="{A9180902-D3D4-405C-8A38-CC9E1DC1E536}" dt="2025-09-09T17:39:28.134" v="6" actId="14100"/>
      <pc:docMkLst>
        <pc:docMk/>
      </pc:docMkLst>
      <pc:sldChg chg="addSp modSp mod">
        <pc:chgData name="PRITHA BAIDYA" userId="d16901fbf2d38727" providerId="LiveId" clId="{A9180902-D3D4-405C-8A38-CC9E1DC1E536}" dt="2025-09-09T17:39:28.134" v="6" actId="14100"/>
        <pc:sldMkLst>
          <pc:docMk/>
          <pc:sldMk cId="0" sldId="284"/>
        </pc:sldMkLst>
        <pc:picChg chg="add mod">
          <ac:chgData name="PRITHA BAIDYA" userId="d16901fbf2d38727" providerId="LiveId" clId="{A9180902-D3D4-405C-8A38-CC9E1DC1E536}" dt="2025-09-09T17:39:28.134" v="6" actId="14100"/>
          <ac:picMkLst>
            <pc:docMk/>
            <pc:sldMk cId="0" sldId="284"/>
            <ac:picMk id="5" creationId="{DACE7445-6797-F34A-13A5-90D4B1287C3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82454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PSCS_83_Chatbot based helpdesk for government employees and </a:t>
            </a:r>
            <a:b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
departments</a:t>
            </a:r>
            <a:endParaRPr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Number:CSE_68 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25369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Ms.Shet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Reshma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Prakash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231309787"/>
              </p:ext>
            </p:extLst>
          </p:nvPr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20221CSE0052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20221CSE0060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Safia</a:t>
                      </a:r>
                      <a:r>
                        <a:rPr lang="en-GB" sz="1800" u="none" strike="noStrike" cap="none" dirty="0"/>
                        <a:t> </a:t>
                      </a:r>
                      <a:r>
                        <a:rPr lang="en-GB" sz="1800" u="none" strike="noStrike" cap="none" dirty="0" err="1"/>
                        <a:t>Fathima</a:t>
                      </a:r>
                      <a:r>
                        <a:rPr lang="en-GB" sz="1800" u="none" strike="noStrike" cap="none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Pritha</a:t>
                      </a:r>
                      <a:r>
                        <a:rPr lang="en-GB" sz="1800" u="none" strike="noStrike" cap="none" dirty="0"/>
                        <a:t> </a:t>
                      </a:r>
                      <a:r>
                        <a:rPr lang="en-GB" sz="1800" u="none" strike="noStrike" cap="none" dirty="0" err="1"/>
                        <a:t>Baidya</a:t>
                      </a:r>
                      <a:r>
                        <a:rPr lang="en-GB" sz="1800" u="none" strike="noStrike" cap="none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Sonika</a:t>
                      </a:r>
                      <a:r>
                        <a:rPr lang="en-GB" sz="1800" u="none" strike="noStrike" cap="none" dirty="0"/>
                        <a:t> 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science and Engineering)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Dr. Asif Mohammed and Dr. Blessed Prince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Dr.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 and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Mr.Muthuraju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Government employees face delays due to scattered information across portals, circulars, and documents.</a:t>
            </a:r>
          </a:p>
          <a:p>
            <a:r>
              <a:rPr lang="en-US" dirty="0"/>
              <a:t>Proposed solution: centralized AI/NLP chatbot helpdesk.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Instant access to policies, forms, and procedures.</a:t>
            </a:r>
          </a:p>
          <a:p>
            <a:pPr lvl="1"/>
            <a:r>
              <a:rPr lang="en-US" dirty="0"/>
              <a:t>Automated routing of queries to the correct department.</a:t>
            </a:r>
          </a:p>
          <a:p>
            <a:pPr lvl="1"/>
            <a:r>
              <a:rPr lang="en-US" dirty="0"/>
              <a:t>Ticketing system for unresolved issues.</a:t>
            </a:r>
          </a:p>
          <a:p>
            <a:pPr lvl="1"/>
            <a:r>
              <a:rPr lang="en-US" dirty="0"/>
              <a:t>Multi-language &amp; voice-enabled interaction.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Increases productivity and coordination.</a:t>
            </a:r>
          </a:p>
          <a:p>
            <a:pPr lvl="1"/>
            <a:r>
              <a:rPr lang="en-US" dirty="0"/>
              <a:t>Enhances employee satisfaction.</a:t>
            </a:r>
          </a:p>
          <a:p>
            <a:pPr lvl="1"/>
            <a:r>
              <a:rPr lang="en-US" dirty="0"/>
              <a:t>Improves citizen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(10 papers, IEEE format)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24232"/>
            <a:ext cx="10668000" cy="5171769"/>
          </a:xfrm>
        </p:spPr>
        <p:txBody>
          <a:bodyPr>
            <a:noAutofit/>
          </a:bodyPr>
          <a:lstStyle/>
          <a:p>
            <a:pPr lvl="0"/>
            <a:r>
              <a:rPr lang="en-US" sz="1550" dirty="0"/>
              <a:t>[1] M. Sathishkumar et al., “Chat Bot based Helpdesk for Government Employees and Department,” Int. J. Sci. Res. Eng. Manag., vol. 8, no. 2, Feb. 2024.</a:t>
            </a:r>
            <a:endParaRPr lang="en-IN" sz="1550" dirty="0"/>
          </a:p>
          <a:p>
            <a:pPr lvl="0"/>
            <a:r>
              <a:rPr lang="en-US" sz="1550" dirty="0"/>
              <a:t>[2] P. Shilpa Sri et al., “Chatbot For Government Employees in Education Department,” J. Inf. Syst. Eng. &amp; Manag., vol. 10, no. 51s, May 2025.</a:t>
            </a:r>
            <a:endParaRPr lang="en-IN" sz="1550" dirty="0"/>
          </a:p>
          <a:p>
            <a:pPr lvl="0"/>
            <a:r>
              <a:rPr lang="en-US" sz="1550" dirty="0"/>
              <a:t>[3] W. M. H. Sasmita, S. </a:t>
            </a:r>
            <a:r>
              <a:rPr lang="en-US" sz="1550" dirty="0" err="1"/>
              <a:t>Sumpeno</a:t>
            </a:r>
            <a:r>
              <a:rPr lang="en-US" sz="1550" dirty="0"/>
              <a:t>, and R. F. </a:t>
            </a:r>
            <a:r>
              <a:rPr lang="en-US" sz="1550" dirty="0" err="1"/>
              <a:t>Rachmadi</a:t>
            </a:r>
            <a:r>
              <a:rPr lang="en-US" sz="1550" dirty="0"/>
              <a:t>, “Improving Government Helpdesk Service with AI-Powered Chatbot Built on Rasa Framework,” J. RESTI, vol. 9, no. 2, pp. 393–403, Apr. 2025.</a:t>
            </a:r>
            <a:endParaRPr lang="en-IN" sz="1550" dirty="0"/>
          </a:p>
          <a:p>
            <a:pPr lvl="0"/>
            <a:r>
              <a:rPr lang="en-US" sz="1550" dirty="0"/>
              <a:t>[4] I. Dube, “Chatbots: A Tool to Improve Public Service Delivery and Create Public Value,” J. Public Admin. Dev. Alternatives, vol. 9, no. 3, Dec. 2024.</a:t>
            </a:r>
            <a:endParaRPr lang="en-IN" sz="1550" dirty="0"/>
          </a:p>
          <a:p>
            <a:pPr lvl="0"/>
            <a:r>
              <a:rPr lang="en-US" sz="1550" dirty="0"/>
              <a:t>[5] A. G. Larsen, “The impact of chatbots on public service provision,” Government Information Quarterly, 2024.</a:t>
            </a:r>
            <a:endParaRPr lang="en-IN" sz="1550" dirty="0"/>
          </a:p>
          <a:p>
            <a:pPr lvl="0"/>
            <a:r>
              <a:rPr lang="en-US" sz="1550" dirty="0"/>
              <a:t>[6] J. Zhou et al., “Improving Public Service Chatbot Design and Civic Impact: Investigation of Citizens' Perceptions of a Metro City 311 Chatbot,” </a:t>
            </a:r>
            <a:r>
              <a:rPr lang="en-US" sz="1550" dirty="0" err="1"/>
              <a:t>arXiv</a:t>
            </a:r>
            <a:r>
              <a:rPr lang="en-US" sz="1550" dirty="0"/>
              <a:t>, Jun. 2025.</a:t>
            </a:r>
            <a:endParaRPr lang="en-IN" sz="1550" dirty="0"/>
          </a:p>
          <a:p>
            <a:pPr lvl="0"/>
            <a:r>
              <a:rPr lang="en-US" sz="1550" dirty="0"/>
              <a:t>[7] A. Kaun, “Public sector chatbots: AI frictions and data infrastructures,” New Media &amp; Society, 2025.</a:t>
            </a:r>
            <a:endParaRPr lang="en-IN" sz="1550" dirty="0"/>
          </a:p>
          <a:p>
            <a:pPr lvl="0"/>
            <a:r>
              <a:rPr lang="en-US" sz="1550" dirty="0"/>
              <a:t>[8] Z. Lin, “How Generative-AI can be Effectively used in Government Chatbots,” </a:t>
            </a:r>
            <a:r>
              <a:rPr lang="en-US" sz="1550" dirty="0" err="1"/>
              <a:t>arXiv</a:t>
            </a:r>
            <a:r>
              <a:rPr lang="en-US" sz="1550" dirty="0"/>
              <a:t>, Nov. 2023.</a:t>
            </a:r>
            <a:endParaRPr lang="en-IN" sz="1550" dirty="0"/>
          </a:p>
          <a:p>
            <a:pPr lvl="0"/>
            <a:r>
              <a:rPr lang="en-US" sz="1550" dirty="0"/>
              <a:t>[9] A Smart Chatbot for Government Services: Enhancing Citizen Experience, IEEE Access, 2022.</a:t>
            </a:r>
            <a:endParaRPr lang="en-IN" sz="1550" dirty="0"/>
          </a:p>
          <a:p>
            <a:pPr lvl="0"/>
            <a:r>
              <a:rPr lang="en-US" sz="1550" dirty="0"/>
              <a:t>[10] AI in Public Administration: Chatbots for Citizen Support, Government Information Quarterly, 2021.</a:t>
            </a:r>
            <a:endParaRPr lang="en-IN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Objectives</a:t>
            </a:r>
            <a:endParaRPr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9599" y="978946"/>
            <a:ext cx="6393629" cy="509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76200" indent="0">
              <a:buNone/>
            </a:pPr>
            <a:endParaRPr lang="en-US" dirty="0"/>
          </a:p>
          <a:p>
            <a:r>
              <a:rPr lang="en-US" b="1" dirty="0"/>
              <a:t>To</a:t>
            </a:r>
            <a:r>
              <a:rPr lang="en-US" dirty="0"/>
              <a:t> deliver accurate, instant responses to employee queries.</a:t>
            </a:r>
          </a:p>
          <a:p>
            <a:r>
              <a:rPr lang="en-US" b="1" dirty="0"/>
              <a:t>To</a:t>
            </a:r>
            <a:r>
              <a:rPr lang="en-US" dirty="0"/>
              <a:t> reduce time spent finding documents, forms, and rules.</a:t>
            </a:r>
          </a:p>
          <a:p>
            <a:r>
              <a:rPr lang="en-US" b="1" dirty="0"/>
              <a:t>To</a:t>
            </a:r>
            <a:r>
              <a:rPr lang="en-US" dirty="0"/>
              <a:t> increase efficiency by automating department classification.</a:t>
            </a:r>
          </a:p>
          <a:p>
            <a:r>
              <a:rPr lang="en-US" b="1" dirty="0"/>
              <a:t>To</a:t>
            </a:r>
            <a:r>
              <a:rPr lang="en-US" dirty="0"/>
              <a:t> maintain a digital ticketing and query tracking system.</a:t>
            </a:r>
          </a:p>
          <a:p>
            <a:r>
              <a:rPr lang="en-US" b="1" dirty="0"/>
              <a:t>To</a:t>
            </a:r>
            <a:r>
              <a:rPr lang="en-US" dirty="0"/>
              <a:t> enable employees to interact in multiple languages, including regional languages.</a:t>
            </a:r>
          </a:p>
          <a:p>
            <a:r>
              <a:rPr lang="en-US" b="1" dirty="0"/>
              <a:t>To</a:t>
            </a:r>
            <a:r>
              <a:rPr lang="en-US" dirty="0"/>
              <a:t> provide voice-enabled support for accessibility.</a:t>
            </a:r>
          </a:p>
          <a:p>
            <a:r>
              <a:rPr lang="en-US" b="1" dirty="0"/>
              <a:t>To</a:t>
            </a:r>
            <a:r>
              <a:rPr lang="en-US" dirty="0"/>
              <a:t> offer an analytics dashboard to decision-makers for process improvement.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F5A8A-46A8-4A8A-8111-304E4CFC82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05656" y="1516827"/>
            <a:ext cx="4164318" cy="37436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0365F-598F-4781-827F-B1E35ECB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52" y="1516827"/>
            <a:ext cx="4441522" cy="3743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 &amp; Drawbacks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Existing Methods:</a:t>
            </a:r>
            <a:endParaRPr lang="en-IN" dirty="0"/>
          </a:p>
          <a:p>
            <a:r>
              <a:rPr lang="en-IN" dirty="0"/>
              <a:t>Manual helpdesk (phone, emails)</a:t>
            </a:r>
          </a:p>
          <a:p>
            <a:r>
              <a:rPr lang="en-IN" dirty="0"/>
              <a:t>Department-specific portals &amp; FAQ pages</a:t>
            </a:r>
          </a:p>
          <a:p>
            <a:r>
              <a:rPr lang="en-IN" dirty="0"/>
              <a:t>Early chatbots with limited features</a:t>
            </a:r>
          </a:p>
          <a:p>
            <a:r>
              <a:rPr lang="en-IN" b="1" dirty="0"/>
              <a:t>Drawbacks:</a:t>
            </a:r>
            <a:endParaRPr lang="en-IN" dirty="0"/>
          </a:p>
          <a:p>
            <a:r>
              <a:rPr lang="en-IN" dirty="0"/>
              <a:t>Slow response times → employee frustration</a:t>
            </a:r>
          </a:p>
          <a:p>
            <a:r>
              <a:rPr lang="en-IN" dirty="0"/>
              <a:t>Scattered information across platforms</a:t>
            </a:r>
          </a:p>
          <a:p>
            <a:r>
              <a:rPr lang="en-IN" dirty="0"/>
              <a:t>Inconsistent and </a:t>
            </a:r>
            <a:r>
              <a:rPr lang="en-IN" dirty="0" err="1"/>
              <a:t>Unpersonalized</a:t>
            </a:r>
            <a:r>
              <a:rPr lang="en-IN" dirty="0"/>
              <a:t> responses</a:t>
            </a:r>
          </a:p>
          <a:p>
            <a:r>
              <a:rPr lang="en-IN" dirty="0"/>
              <a:t>Scalability &amp; security concerns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Proposed Solution:</a:t>
            </a:r>
            <a:endParaRPr lang="en-IN" dirty="0"/>
          </a:p>
          <a:p>
            <a:r>
              <a:rPr lang="en-IN" dirty="0"/>
              <a:t>Centralized AI/NLP chatbot across all departments</a:t>
            </a:r>
          </a:p>
          <a:p>
            <a:r>
              <a:rPr lang="en-IN" dirty="0"/>
              <a:t>Ticket tracking system for unresolved issues</a:t>
            </a:r>
          </a:p>
          <a:p>
            <a:r>
              <a:rPr lang="en-IN" dirty="0"/>
              <a:t>Multi-language &amp; voice-enabled support</a:t>
            </a:r>
          </a:p>
          <a:p>
            <a:r>
              <a:rPr lang="en-IN" dirty="0"/>
              <a:t>Analytics dashboard for decision-makers</a:t>
            </a:r>
          </a:p>
          <a:p>
            <a:r>
              <a:rPr lang="en-IN" b="1" dirty="0"/>
              <a:t>Feasibility:</a:t>
            </a:r>
            <a:endParaRPr lang="en-IN" dirty="0"/>
          </a:p>
          <a:p>
            <a:r>
              <a:rPr lang="en-IN" dirty="0"/>
              <a:t>Built with Python, </a:t>
            </a:r>
            <a:r>
              <a:rPr lang="en-IN" dirty="0" err="1"/>
              <a:t>spaCy</a:t>
            </a:r>
            <a:r>
              <a:rPr lang="en-IN" dirty="0"/>
              <a:t>, NLTK, Rasa/</a:t>
            </a:r>
            <a:r>
              <a:rPr lang="en-IN" dirty="0" err="1"/>
              <a:t>Dialogflow</a:t>
            </a:r>
            <a:endParaRPr lang="en-IN" dirty="0"/>
          </a:p>
          <a:p>
            <a:r>
              <a:rPr lang="en-IN" dirty="0"/>
              <a:t>Cloud deployment on AWS, Azure, GCP</a:t>
            </a:r>
          </a:p>
          <a:p>
            <a:r>
              <a:rPr lang="en-IN" dirty="0"/>
              <a:t>Cost-effective using open-source frameworks</a:t>
            </a:r>
          </a:p>
          <a:p>
            <a:r>
              <a:rPr lang="en-IN" dirty="0"/>
              <a:t>Minimal hardware requirements → accessible to employees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860236"/>
            <a:ext cx="10586720" cy="3193936"/>
          </a:xfrm>
        </p:spPr>
        <p:txBody>
          <a:bodyPr/>
          <a:lstStyle/>
          <a:p>
            <a:pPr marL="76200" indent="0">
              <a:buNone/>
            </a:pPr>
            <a:endParaRPr dirty="0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9030A6B5-41A2-72D6-DE2D-0EE433171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064029"/>
            <a:ext cx="10909300" cy="473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User Interface Module</a:t>
            </a:r>
            <a:r>
              <a:rPr lang="en-IN" dirty="0"/>
              <a:t> – Web/mobile access</a:t>
            </a:r>
          </a:p>
          <a:p>
            <a:r>
              <a:rPr lang="en-IN" b="1" dirty="0"/>
              <a:t>Query Processing Module</a:t>
            </a:r>
            <a:r>
              <a:rPr lang="en-IN" dirty="0"/>
              <a:t> – NLP-based interpretation</a:t>
            </a:r>
          </a:p>
          <a:p>
            <a:r>
              <a:rPr lang="en-IN" b="1" dirty="0"/>
              <a:t>Department Routing Module</a:t>
            </a:r>
            <a:r>
              <a:rPr lang="en-IN" dirty="0"/>
              <a:t> – Classify &amp; route queries</a:t>
            </a:r>
          </a:p>
          <a:p>
            <a:r>
              <a:rPr lang="en-IN" b="1" dirty="0"/>
              <a:t>Ticketing &amp; Tracking System</a:t>
            </a:r>
            <a:r>
              <a:rPr lang="en-IN" dirty="0"/>
              <a:t> – Track unresolved issues</a:t>
            </a:r>
          </a:p>
          <a:p>
            <a:r>
              <a:rPr lang="en-IN" b="1" dirty="0"/>
              <a:t>Multi-language Support Module</a:t>
            </a:r>
            <a:r>
              <a:rPr lang="en-IN" dirty="0"/>
              <a:t> – English &amp; regional languages</a:t>
            </a:r>
          </a:p>
          <a:p>
            <a:r>
              <a:rPr lang="en-IN" b="1" dirty="0"/>
              <a:t>Voice Processing Module</a:t>
            </a:r>
            <a:r>
              <a:rPr lang="en-IN" dirty="0"/>
              <a:t> – Speech accessibility</a:t>
            </a:r>
          </a:p>
          <a:p>
            <a:r>
              <a:rPr lang="en-IN" b="1" dirty="0"/>
              <a:t>Analytics Dashboard</a:t>
            </a:r>
            <a:r>
              <a:rPr lang="en-IN" dirty="0"/>
              <a:t> – Insights for policy makers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dirty="0"/>
              <a:t>Software Requirements:</a:t>
            </a:r>
            <a:endParaRPr lang="en-US" dirty="0"/>
          </a:p>
          <a:p>
            <a:r>
              <a:rPr lang="en-US" dirty="0"/>
              <a:t>Python 3.x</a:t>
            </a:r>
          </a:p>
          <a:p>
            <a:r>
              <a:rPr lang="en-US" dirty="0" err="1"/>
              <a:t>Streamlit</a:t>
            </a:r>
            <a:r>
              <a:rPr lang="en-US" dirty="0"/>
              <a:t> / Flask</a:t>
            </a:r>
          </a:p>
          <a:p>
            <a:r>
              <a:rPr lang="en-US" dirty="0"/>
              <a:t>TensorFlow / </a:t>
            </a:r>
            <a:r>
              <a:rPr lang="en-US" dirty="0" err="1"/>
              <a:t>Keras</a:t>
            </a:r>
            <a:endParaRPr lang="en-US" dirty="0"/>
          </a:p>
          <a:p>
            <a:r>
              <a:rPr lang="en-US" dirty="0"/>
              <a:t>Scikit-learn</a:t>
            </a:r>
          </a:p>
          <a:p>
            <a:r>
              <a:rPr lang="en-US" dirty="0"/>
              <a:t>Pandas, NLTK/</a:t>
            </a:r>
            <a:r>
              <a:rPr lang="en-US" dirty="0" err="1"/>
              <a:t>spaCy</a:t>
            </a:r>
            <a:endParaRPr lang="en-US" dirty="0"/>
          </a:p>
          <a:p>
            <a:r>
              <a:rPr lang="en-US" dirty="0"/>
              <a:t>SQLite / </a:t>
            </a:r>
            <a:r>
              <a:rPr lang="en-US" dirty="0" err="1"/>
              <a:t>Supabase</a:t>
            </a:r>
            <a:endParaRPr lang="en-US" dirty="0"/>
          </a:p>
          <a:p>
            <a:r>
              <a:rPr lang="en-US" dirty="0" err="1"/>
              <a:t>SpeechRecognition</a:t>
            </a:r>
            <a:endParaRPr lang="en-US" dirty="0"/>
          </a:p>
          <a:p>
            <a:r>
              <a:rPr lang="en-US" dirty="0" err="1"/>
              <a:t>googletrans</a:t>
            </a:r>
            <a:endParaRPr lang="en-US" dirty="0"/>
          </a:p>
          <a:p>
            <a:r>
              <a:rPr lang="en-US" dirty="0"/>
              <a:t>GitHub for version control</a:t>
            </a:r>
          </a:p>
          <a:p>
            <a:r>
              <a:rPr lang="en-US" dirty="0"/>
              <a:t>Google Data Studio / </a:t>
            </a:r>
            <a:r>
              <a:rPr lang="en-US" dirty="0" err="1"/>
              <a:t>Metabase</a:t>
            </a:r>
            <a:r>
              <a:rPr lang="en-US" dirty="0"/>
              <a:t> for analytics</a:t>
            </a:r>
          </a:p>
          <a:p>
            <a:pPr marL="76200" indent="0">
              <a:buNone/>
            </a:pPr>
            <a:r>
              <a:rPr lang="en-US" b="1" dirty="0"/>
              <a:t>Hardware Requirements:</a:t>
            </a:r>
            <a:endParaRPr lang="en-US" dirty="0"/>
          </a:p>
          <a:p>
            <a:r>
              <a:rPr lang="en-US" dirty="0"/>
              <a:t>Desktop/Laptop with minimum 2GB RAM</a:t>
            </a:r>
          </a:p>
          <a:p>
            <a:r>
              <a:rPr lang="en-US" dirty="0"/>
              <a:t>Stable internet connection</a:t>
            </a:r>
          </a:p>
          <a:p>
            <a:r>
              <a:rPr lang="en-US" dirty="0"/>
              <a:t>Optional: Microphone for voice input feature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DAABC4-5266-F1C0-9A0C-F50952B1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452" y="1754506"/>
            <a:ext cx="81280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Demo Screenshot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E7445-6797-F34A-13A5-90D4B1287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927884"/>
            <a:ext cx="10950815" cy="5290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845574"/>
            <a:ext cx="10668000" cy="5250427"/>
          </a:xfrm>
        </p:spPr>
        <p:txBody>
          <a:bodyPr>
            <a:noAutofit/>
          </a:bodyPr>
          <a:lstStyle/>
          <a:p>
            <a:pPr lvl="0"/>
            <a:r>
              <a:rPr lang="en-US" sz="1550" dirty="0"/>
              <a:t>[1] M. Sathishkumar et al., “Chat Bot based Helpdesk for Government Employees and Department,” Int. J. Sci. Res. Eng. Manag., vol. 8, no. 2, Feb. 2024.</a:t>
            </a:r>
            <a:endParaRPr lang="en-IN" sz="1550" dirty="0"/>
          </a:p>
          <a:p>
            <a:pPr lvl="0"/>
            <a:r>
              <a:rPr lang="en-US" sz="1550" dirty="0"/>
              <a:t>[2] P. Shilpa Sri et al., “Chatbot For Government Employees in Education Department,” J. Inf. Syst. Eng. &amp; Manag., vol. 10, no. 51s, May 2025.</a:t>
            </a:r>
            <a:endParaRPr lang="en-IN" sz="1550" dirty="0"/>
          </a:p>
          <a:p>
            <a:pPr lvl="0"/>
            <a:r>
              <a:rPr lang="en-US" sz="1550" dirty="0"/>
              <a:t>[3] W. M. H. Sasmita, S. </a:t>
            </a:r>
            <a:r>
              <a:rPr lang="en-US" sz="1550" dirty="0" err="1"/>
              <a:t>Sumpeno</a:t>
            </a:r>
            <a:r>
              <a:rPr lang="en-US" sz="1550" dirty="0"/>
              <a:t>, and R. F. </a:t>
            </a:r>
            <a:r>
              <a:rPr lang="en-US" sz="1550" dirty="0" err="1"/>
              <a:t>Rachmadi</a:t>
            </a:r>
            <a:r>
              <a:rPr lang="en-US" sz="1550" dirty="0"/>
              <a:t>, “Improving Government Helpdesk Service with AI-Powered Chatbot Built on Rasa Framework,” J. RESTI, vol. 9, no. 2, pp. 393–403, Apr. 2025.</a:t>
            </a:r>
            <a:endParaRPr lang="en-IN" sz="1550" dirty="0"/>
          </a:p>
          <a:p>
            <a:pPr lvl="0"/>
            <a:r>
              <a:rPr lang="en-US" sz="1550" dirty="0"/>
              <a:t>[4] I. Dube, “Chatbots: A Tool to Improve Public Service Delivery and Create Public Value,” J. Public Admin. Dev. Alternatives, vol. 9, no. 3, Dec. 2024.</a:t>
            </a:r>
            <a:endParaRPr lang="en-IN" sz="1550" dirty="0"/>
          </a:p>
          <a:p>
            <a:pPr lvl="0"/>
            <a:r>
              <a:rPr lang="en-US" sz="1550" dirty="0"/>
              <a:t>[5] A. G. Larsen, “The impact of chatbots on public service provision,” Government Information Quarterly, 2024.</a:t>
            </a:r>
            <a:endParaRPr lang="en-IN" sz="1550" dirty="0"/>
          </a:p>
          <a:p>
            <a:pPr lvl="0"/>
            <a:r>
              <a:rPr lang="en-US" sz="1550" dirty="0"/>
              <a:t>[6] J. Zhou et al., “Improving Public Service Chatbot Design and Civic Impact: Investigation of Citizens' Perceptions of a Metro City 311 Chatbot,” </a:t>
            </a:r>
            <a:r>
              <a:rPr lang="en-US" sz="1550" dirty="0" err="1"/>
              <a:t>arXiv</a:t>
            </a:r>
            <a:r>
              <a:rPr lang="en-US" sz="1550" dirty="0"/>
              <a:t>, Jun. 2025.</a:t>
            </a:r>
            <a:endParaRPr lang="en-IN" sz="1550" dirty="0"/>
          </a:p>
          <a:p>
            <a:pPr lvl="0"/>
            <a:r>
              <a:rPr lang="en-US" sz="1550" dirty="0"/>
              <a:t>[7] A. Kaun, “Public sector chatbots: AI frictions and data infrastructures,” New Media &amp; Society, 2025.</a:t>
            </a:r>
            <a:endParaRPr lang="en-IN" sz="1550" dirty="0"/>
          </a:p>
          <a:p>
            <a:pPr lvl="0"/>
            <a:r>
              <a:rPr lang="en-US" sz="1550" dirty="0"/>
              <a:t>[8] Z. Lin, “How Generative-AI can be Effectively used in Government Chatbots,” </a:t>
            </a:r>
            <a:r>
              <a:rPr lang="en-US" sz="1550" dirty="0" err="1"/>
              <a:t>arXiv</a:t>
            </a:r>
            <a:r>
              <a:rPr lang="en-US" sz="1550" dirty="0"/>
              <a:t>, Nov. 2023.</a:t>
            </a:r>
            <a:endParaRPr lang="en-IN" sz="1550" dirty="0"/>
          </a:p>
          <a:p>
            <a:pPr lvl="0"/>
            <a:r>
              <a:rPr lang="en-US" sz="1550" dirty="0"/>
              <a:t>[9] A Smart Chatbot for Government Services: Enhancing Citizen Experience, IEEE Access, 2022.</a:t>
            </a:r>
            <a:endParaRPr lang="en-IN" sz="1550" dirty="0"/>
          </a:p>
          <a:p>
            <a:pPr lvl="0"/>
            <a:r>
              <a:rPr lang="en-US" sz="1550" dirty="0"/>
              <a:t>[10] AI in Public Administration: Chatbots for Citizen Support, Government Information Quarterly, 2021.</a:t>
            </a:r>
            <a:endParaRPr lang="en-IN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1170</Words>
  <Application>Microsoft Office PowerPoint</Application>
  <PresentationFormat>Widescreen</PresentationFormat>
  <Paragraphs>114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Verdana</vt:lpstr>
      <vt:lpstr>Wingdings</vt:lpstr>
      <vt:lpstr>Bioinformatics</vt:lpstr>
      <vt:lpstr>PSCS_83_Chatbot based helpdesk for government employees and  
departments</vt:lpstr>
      <vt:lpstr>Abstract</vt:lpstr>
      <vt:lpstr>Literature Survey (10 papers, IEEE format)</vt:lpstr>
      <vt:lpstr>Objectives</vt:lpstr>
      <vt:lpstr>Existing Methods &amp; Drawbacks</vt:lpstr>
      <vt:lpstr>Proposed Method &amp; Feasibility Study</vt:lpstr>
      <vt:lpstr>Architecture Diagram</vt:lpstr>
      <vt:lpstr>Modules</vt:lpstr>
      <vt:lpstr>Hardware &amp; Software Requirements</vt:lpstr>
      <vt:lpstr>Timeline of the Project (Gantt Chart)</vt:lpstr>
      <vt:lpstr>Chatbot Demo Screenshot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PRITHA BAIDYA</cp:lastModifiedBy>
  <cp:revision>54</cp:revision>
  <dcterms:modified xsi:type="dcterms:W3CDTF">2025-09-09T17:39:30Z</dcterms:modified>
</cp:coreProperties>
</file>